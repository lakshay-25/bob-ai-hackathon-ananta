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5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51D35"/>
          </a:solidFill>
          <a:ln w="12700">
            <a:solidFill>
              <a:srgbClr val="151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9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DRISHTI  •  TEAM ANANTA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1460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365760"/>
            <a:ext cx="0" cy="585216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5486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4630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774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918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42062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120640"/>
            <a:ext cx="11521440" cy="0"/>
          </a:xfrm>
          <a:prstGeom prst="line">
            <a:avLst/>
          </a:prstGeom>
          <a:noFill/>
          <a:ln w="7620">
            <a:solidFill>
              <a:srgbClr val="141B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868680"/>
            <a:ext cx="2148840" cy="2148840"/>
          </a:xfrm>
          <a:prstGeom prst="ellipse">
            <a:avLst/>
          </a:prstGeom>
          <a:solidFill>
            <a:srgbClr val="111A31"/>
          </a:solidFill>
          <a:ln w="20320">
            <a:solidFill>
              <a:srgbClr val="7B6FE2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1298448"/>
            <a:ext cx="1280160" cy="1280160"/>
          </a:xfrm>
          <a:prstGeom prst="ellipse">
            <a:avLst/>
          </a:prstGeom>
          <a:solidFill>
            <a:srgbClr val="121D38"/>
          </a:solidFill>
          <a:ln w="15240">
            <a:solidFill>
              <a:srgbClr val="44B6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7132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80" dirty="0">
                <a:solidFill>
                  <a:srgbClr val="FFFFFF"/>
                </a:solidFill>
              </a:rPr>
              <a:t>DRISHTI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DE4F5"/>
                </a:solidFill>
              </a:rPr>
              <a:t>Predictive Crime Hotspot Mapping Assistant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8368" y="2313432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728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IBM Bob AI Hackathon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44952" y="231343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23728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Track 4 • AI &amp; Predictive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297180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9C4DC"/>
                </a:solidFill>
              </a:rPr>
              <a:t>Turning historical crime records into explainable, time-aware patrol intelligence.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" y="4114800"/>
            <a:ext cx="5897880" cy="1325880"/>
          </a:xfrm>
          <a:prstGeom prst="roundRect">
            <a:avLst>
              <a:gd name="adj" fmla="val 11034"/>
            </a:avLst>
          </a:prstGeom>
          <a:solidFill>
            <a:srgbClr val="121A30"/>
          </a:solidFill>
          <a:ln w="12700">
            <a:solidFill>
              <a:srgbClr val="2A35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B6FE2"/>
                </a:solidFill>
              </a:rPr>
              <a:t>TEAM ANANTA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73659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Lakshay Sunil Jatawat  •  Kunj Buddhdev  •  Deeksha  •  Jiya Joshi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" y="523036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0BB"/>
                </a:solidFill>
              </a:rPr>
              <a:t>District-level decision support for proactive patrol planning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0" y="6080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7829B"/>
                </a:solidFill>
              </a:rPr>
              <a:t>01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01 /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gap is not data — it is predictive use of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Police stations may already hold years of geo-tagged crime records, while patrol plans can remain static and reactive.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713751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mnt/data/a_clean_infographic_diagram_on_a_whit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4" y="1911096"/>
            <a:ext cx="6885432" cy="3639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33038" y="1783080"/>
            <a:ext cx="3634122" cy="3886200"/>
          </a:xfrm>
          <a:prstGeom prst="roundRect">
            <a:avLst>
              <a:gd name="adj" fmla="val 3765"/>
            </a:avLst>
          </a:prstGeom>
          <a:solidFill>
            <a:srgbClr val="121A30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096303" y="2031574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C65B2A"/>
          </a:solidFill>
          <a:ln w="12700">
            <a:solidFill>
              <a:srgbClr val="C65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69455" y="2112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STATE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78870" y="2542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Reactive workflow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115918" y="3256005"/>
            <a:ext cx="91440" cy="91440"/>
          </a:xfrm>
          <a:prstGeom prst="ellipse">
            <a:avLst/>
          </a:prstGeom>
          <a:solidFill>
            <a:srgbClr val="7B6FE2"/>
          </a:solidFill>
          <a:ln w="12700">
            <a:solidFill>
              <a:srgbClr val="7B6F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0238" y="3127248"/>
            <a:ext cx="2792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4E9F4"/>
                </a:solidFill>
              </a:rPr>
              <a:t>Incident is recorded after the event.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5918" y="3829853"/>
            <a:ext cx="91440" cy="91440"/>
          </a:xfrm>
          <a:prstGeom prst="ellipse">
            <a:avLst/>
          </a:prstGeom>
          <a:solidFill>
            <a:srgbClr val="7B6FE2"/>
          </a:solidFill>
          <a:ln w="12700">
            <a:solidFill>
              <a:srgbClr val="7B6F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8526" y="3730752"/>
            <a:ext cx="2792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4E9F4"/>
                </a:solidFill>
              </a:rPr>
              <a:t>Historical data is stored, but often looked at retrospectively.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15918" y="4451645"/>
            <a:ext cx="91440" cy="91440"/>
          </a:xfrm>
          <a:prstGeom prst="ellipse">
            <a:avLst/>
          </a:prstGeom>
          <a:solidFill>
            <a:srgbClr val="7B6FE2"/>
          </a:solidFill>
          <a:ln w="12700">
            <a:solidFill>
              <a:srgbClr val="7B6F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0238" y="4334256"/>
            <a:ext cx="2866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4E9F4"/>
                </a:solidFill>
              </a:rPr>
              <a:t>Beat routes can remain fixed despite changing spatial-temporal patterns.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43900" y="5001768"/>
            <a:ext cx="29915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9EE0D0"/>
                </a:solidFill>
              </a:rPr>
              <a:t>Drishti adds a predictive decision layer on top of existing records.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3504" y="62362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AA4"/>
                </a:solidFill>
              </a:rPr>
              <a:t>Source basis: project README problem statement and solution description.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02 /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Drishti converts historical records into an actionable weekly brief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The system is designed around explainability and human approval — not black-box automation.</a:t>
            </a:r>
            <a:endParaRPr lang="en-US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C0D8D7-659F-633A-C98B-FB443D550D07}"/>
              </a:ext>
            </a:extLst>
          </p:cNvPr>
          <p:cNvGrpSpPr/>
          <p:nvPr/>
        </p:nvGrpSpPr>
        <p:grpSpPr>
          <a:xfrm>
            <a:off x="228600" y="1845605"/>
            <a:ext cx="2606040" cy="3246120"/>
            <a:chOff x="594360" y="1847088"/>
            <a:chExt cx="2606040" cy="3246120"/>
          </a:xfrm>
        </p:grpSpPr>
        <p:sp>
          <p:nvSpPr>
            <p:cNvPr id="5" name="Shape 3"/>
            <p:cNvSpPr/>
            <p:nvPr/>
          </p:nvSpPr>
          <p:spPr>
            <a:xfrm>
              <a:off x="594360" y="1847088"/>
              <a:ext cx="2606040" cy="3246120"/>
            </a:xfrm>
            <a:prstGeom prst="roundRect">
              <a:avLst>
                <a:gd name="adj" fmla="val 5614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795528" y="2048256"/>
              <a:ext cx="475488" cy="475488"/>
            </a:xfrm>
            <a:prstGeom prst="ellipse">
              <a:avLst/>
            </a:prstGeom>
            <a:solidFill>
              <a:srgbClr val="5B4BB7"/>
            </a:solidFill>
            <a:ln w="12700">
              <a:solidFill>
                <a:srgbClr val="5B4BB7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795528" y="2157984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1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5528" y="2670048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172033"/>
                  </a:solidFill>
                </a:rPr>
                <a:t>1  Detect patterns</a:t>
              </a:r>
              <a:endParaRPr lang="en-US" sz="1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95528" y="321868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B4BB7"/>
                  </a:solidFill>
                </a:rPr>
                <a:t>Spatial + temporal analysis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5528" y="3657600"/>
              <a:ext cx="221284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4506A"/>
                  </a:solidFill>
                </a:rPr>
                <a:t>Find near-repeat patterns, recency effects, and recurring hotspots across micro-zones.</a:t>
              </a:r>
              <a:endParaRPr lang="en-US" sz="14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3008376" y="3267497"/>
            <a:ext cx="237744" cy="201168"/>
          </a:xfrm>
          <a:prstGeom prst="chevron">
            <a:avLst/>
          </a:prstGeom>
          <a:solidFill>
            <a:srgbClr val="7783A0"/>
          </a:solidFill>
          <a:ln w="12700">
            <a:solidFill>
              <a:srgbClr val="7783A0"/>
            </a:solidFill>
            <a:prstDash val="solid"/>
          </a:ln>
        </p:spPr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DFF13BF-3F41-32B5-E07F-904EC654D626}"/>
              </a:ext>
            </a:extLst>
          </p:cNvPr>
          <p:cNvGrpSpPr/>
          <p:nvPr/>
        </p:nvGrpSpPr>
        <p:grpSpPr>
          <a:xfrm>
            <a:off x="3337560" y="1845605"/>
            <a:ext cx="2606040" cy="3246120"/>
            <a:chOff x="3657600" y="1847088"/>
            <a:chExt cx="2606040" cy="3246120"/>
          </a:xfrm>
        </p:grpSpPr>
        <p:sp>
          <p:nvSpPr>
            <p:cNvPr id="12" name="Shape 10"/>
            <p:cNvSpPr/>
            <p:nvPr/>
          </p:nvSpPr>
          <p:spPr>
            <a:xfrm>
              <a:off x="3657600" y="1847088"/>
              <a:ext cx="2606040" cy="3246120"/>
            </a:xfrm>
            <a:prstGeom prst="roundRect">
              <a:avLst>
                <a:gd name="adj" fmla="val 5614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3858768" y="2048256"/>
              <a:ext cx="475488" cy="475488"/>
            </a:xfrm>
            <a:prstGeom prst="ellipse">
              <a:avLst/>
            </a:prstGeom>
            <a:solidFill>
              <a:srgbClr val="118A73"/>
            </a:solidFill>
            <a:ln w="12700">
              <a:solidFill>
                <a:srgbClr val="118A73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858768" y="2157984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2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58768" y="2670048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172033"/>
                  </a:solidFill>
                </a:rPr>
                <a:t>2  Predict Top 5</a:t>
              </a:r>
              <a:endParaRPr lang="en-US" sz="1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858768" y="321868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8A73"/>
                  </a:solidFill>
                </a:rPr>
                <a:t>Ranked risk + reasons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858768" y="3657600"/>
              <a:ext cx="221284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4506A"/>
                  </a:solidFill>
                </a:rPr>
                <a:t>Score areas for the coming week and explain what is driving each high-risk flag.</a:t>
              </a:r>
              <a:endParaRPr lang="en-US" sz="14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126480" y="3314700"/>
            <a:ext cx="237744" cy="201168"/>
          </a:xfrm>
          <a:prstGeom prst="chevron">
            <a:avLst/>
          </a:prstGeom>
          <a:solidFill>
            <a:srgbClr val="7783A0"/>
          </a:solidFill>
          <a:ln w="12700">
            <a:solidFill>
              <a:srgbClr val="7783A0"/>
            </a:solidFill>
            <a:prstDash val="solid"/>
          </a:ln>
        </p:spPr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5C3F4A-3BAD-6068-6749-EC16A600C43B}"/>
              </a:ext>
            </a:extLst>
          </p:cNvPr>
          <p:cNvGrpSpPr/>
          <p:nvPr/>
        </p:nvGrpSpPr>
        <p:grpSpPr>
          <a:xfrm>
            <a:off x="6492240" y="1915668"/>
            <a:ext cx="2606040" cy="3246120"/>
            <a:chOff x="6720840" y="1847088"/>
            <a:chExt cx="2606040" cy="3246120"/>
          </a:xfrm>
        </p:grpSpPr>
        <p:sp>
          <p:nvSpPr>
            <p:cNvPr id="19" name="Shape 17"/>
            <p:cNvSpPr/>
            <p:nvPr/>
          </p:nvSpPr>
          <p:spPr>
            <a:xfrm>
              <a:off x="6720840" y="1847088"/>
              <a:ext cx="2606040" cy="3246120"/>
            </a:xfrm>
            <a:prstGeom prst="roundRect">
              <a:avLst>
                <a:gd name="adj" fmla="val 5614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922008" y="2048256"/>
              <a:ext cx="475488" cy="475488"/>
            </a:xfrm>
            <a:prstGeom prst="ellipse">
              <a:avLst/>
            </a:prstGeom>
            <a:solidFill>
              <a:srgbClr val="C65B2A"/>
            </a:solidFill>
            <a:ln w="12700">
              <a:solidFill>
                <a:srgbClr val="C65B2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922008" y="2157984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3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922008" y="2670048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172033"/>
                  </a:solidFill>
                </a:rPr>
                <a:t>3  Simulate events</a:t>
              </a:r>
              <a:endParaRPr lang="en-US" sz="1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922008" y="321868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C65B2A"/>
                  </a:solidFill>
                </a:rPr>
                <a:t>What-if analysis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922008" y="3657600"/>
              <a:ext cx="221284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4506A"/>
                  </a:solidFill>
                </a:rPr>
                <a:t>Model shows how festivals, markets, or rallies could shift area-level risk.</a:t>
              </a:r>
              <a:endParaRPr lang="en-US" sz="14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9200347" y="3287268"/>
            <a:ext cx="237744" cy="201168"/>
          </a:xfrm>
          <a:prstGeom prst="chevron">
            <a:avLst/>
          </a:prstGeom>
          <a:solidFill>
            <a:srgbClr val="7783A0"/>
          </a:solidFill>
          <a:ln w="12700">
            <a:solidFill>
              <a:srgbClr val="7783A0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8B20DC-CE48-596A-B8E9-CB14DBAF2635}"/>
              </a:ext>
            </a:extLst>
          </p:cNvPr>
          <p:cNvGrpSpPr/>
          <p:nvPr/>
        </p:nvGrpSpPr>
        <p:grpSpPr>
          <a:xfrm>
            <a:off x="9456379" y="1892808"/>
            <a:ext cx="2606040" cy="3246120"/>
            <a:chOff x="9784080" y="1847088"/>
            <a:chExt cx="2606040" cy="3246120"/>
          </a:xfrm>
        </p:grpSpPr>
        <p:sp>
          <p:nvSpPr>
            <p:cNvPr id="26" name="Shape 24"/>
            <p:cNvSpPr/>
            <p:nvPr/>
          </p:nvSpPr>
          <p:spPr>
            <a:xfrm>
              <a:off x="9784080" y="1847088"/>
              <a:ext cx="2606040" cy="3246120"/>
            </a:xfrm>
            <a:prstGeom prst="roundRect">
              <a:avLst>
                <a:gd name="adj" fmla="val 5614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9985248" y="2048256"/>
              <a:ext cx="475488" cy="475488"/>
            </a:xfrm>
            <a:prstGeom prst="ellipse">
              <a:avLst/>
            </a:prstGeom>
            <a:solidFill>
              <a:srgbClr val="3E6EA8"/>
            </a:solidFill>
            <a:ln w="12700">
              <a:solidFill>
                <a:srgbClr val="3E6EA8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9985248" y="2157984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4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985248" y="2670048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172033"/>
                  </a:solidFill>
                </a:rPr>
                <a:t>4  Redeploy patrols</a:t>
              </a:r>
              <a:endParaRPr lang="en-US" sz="1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985248" y="321868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E6EA8"/>
                  </a:solidFill>
                </a:rPr>
                <a:t>Time-window guidance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985248" y="3657600"/>
              <a:ext cx="221284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4506A"/>
                  </a:solidFill>
                </a:rPr>
                <a:t>Suggest patrol windows and package findings in a one-page SHO intelligence brief.</a:t>
              </a:r>
              <a:endParaRPr lang="en-US" sz="140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594360" y="5440680"/>
            <a:ext cx="10972800" cy="676656"/>
          </a:xfrm>
          <a:prstGeom prst="roundRect">
            <a:avLst>
              <a:gd name="adj" fmla="val 21622"/>
            </a:avLst>
          </a:prstGeom>
          <a:solidFill>
            <a:srgbClr val="121A30"/>
          </a:solidFill>
          <a:ln w="12700">
            <a:solidFill>
              <a:srgbClr val="2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563270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FE2"/>
                </a:solidFill>
              </a:rPr>
              <a:t>Key product promise: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67712" y="5596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Top-5 risk areas + the “why” + event impact + patrol timing — in one decision flow.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03 /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297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CSV upload to an approved patrol decision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365992" cy="5349240"/>
          </a:xfrm>
          <a:prstGeom prst="roundRect">
            <a:avLst>
              <a:gd name="adj" fmla="val 273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pic>
        <p:nvPicPr>
          <p:cNvPr id="6" name="Image 0" descr="/mnt/data/a_clean_infographic_flowchart_on_a_white_backgro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43000"/>
            <a:ext cx="11119104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080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F5B"/>
                </a:solidFill>
              </a:rPr>
              <a:t>Human-in-the-loop: the SHO approves or overrides every recommendation.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04 / DECISION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recommendation is explainable at every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Drishti does not stop at a risk score; it exposes the reasoning and turns it into a usable operational brief.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983480" cy="621792"/>
          </a:xfrm>
          <a:prstGeom prst="roundRect">
            <a:avLst>
              <a:gd name="adj" fmla="val 23529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3852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97964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5 AREAS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84832" y="193852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0EF"/>
                </a:solidFill>
              </a:rPr>
              <a:t>Ranked list of the highest-scoring areas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80744" y="2404872"/>
            <a:ext cx="0" cy="164592"/>
          </a:xfrm>
          <a:prstGeom prst="line">
            <a:avLst/>
          </a:prstGeom>
          <a:noFill/>
          <a:ln w="17780">
            <a:solidFill>
              <a:srgbClr val="55617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2578608"/>
            <a:ext cx="4983480" cy="621792"/>
          </a:xfrm>
          <a:prstGeom prst="roundRect">
            <a:avLst>
              <a:gd name="adj" fmla="val 23529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73405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79349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WHY BOX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4832" y="273405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0EF"/>
                </a:solidFill>
              </a:rPr>
              <a:t>Recent rise • trend • incident type • contributing factors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380744" y="3200400"/>
            <a:ext cx="0" cy="164592"/>
          </a:xfrm>
          <a:prstGeom prst="line">
            <a:avLst/>
          </a:prstGeom>
          <a:noFill/>
          <a:ln w="17780">
            <a:solidFill>
              <a:srgbClr val="55617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3374136"/>
            <a:ext cx="4983480" cy="621792"/>
          </a:xfrm>
          <a:prstGeom prst="roundRect">
            <a:avLst>
              <a:gd name="adj" fmla="val 23529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5295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65B2A"/>
          </a:solidFill>
          <a:ln w="12700">
            <a:solidFill>
              <a:srgbClr val="C65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589020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35295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0EF"/>
                </a:solidFill>
              </a:rPr>
              <a:t>Compare risk under an upcoming event scenario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80744" y="3995928"/>
            <a:ext cx="0" cy="164592"/>
          </a:xfrm>
          <a:prstGeom prst="line">
            <a:avLst/>
          </a:prstGeom>
          <a:noFill/>
          <a:ln w="17780">
            <a:solidFill>
              <a:srgbClr val="55617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" y="4169664"/>
            <a:ext cx="4983480" cy="621792"/>
          </a:xfrm>
          <a:prstGeom prst="roundRect">
            <a:avLst>
              <a:gd name="adj" fmla="val 23529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3251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E6EA8"/>
          </a:solidFill>
          <a:ln w="12700">
            <a:solidFill>
              <a:srgbClr val="3E6E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8454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PATROL HINTS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432511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0EF"/>
                </a:solidFill>
              </a:rPr>
              <a:t>Suggested peak hours and time-based intensity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380744" y="4791456"/>
            <a:ext cx="0" cy="164592"/>
          </a:xfrm>
          <a:prstGeom prst="line">
            <a:avLst/>
          </a:prstGeom>
          <a:noFill/>
          <a:ln w="17780">
            <a:solidFill>
              <a:srgbClr val="55617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" y="4965192"/>
            <a:ext cx="4983480" cy="621792"/>
          </a:xfrm>
          <a:prstGeom prst="roundRect">
            <a:avLst>
              <a:gd name="adj" fmla="val 23529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1206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F6F5B"/>
          </a:solidFill>
          <a:ln w="12700">
            <a:solidFill>
              <a:srgbClr val="0F6F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18007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PDF BRIEF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84832" y="5120640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9E0EF"/>
                </a:solidFill>
              </a:rPr>
              <a:t>One-page summary with reasons, charts and map output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89320" y="1783080"/>
            <a:ext cx="5577840" cy="4041648"/>
          </a:xfrm>
          <a:prstGeom prst="roundRect">
            <a:avLst>
              <a:gd name="adj" fmla="val 3620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057400"/>
            <a:ext cx="1993392" cy="32004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13512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OFFICER EXPERIENCE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5420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033"/>
                </a:solidFill>
              </a:rPr>
              <a:t>What an SHO actually gets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336792" y="3145536"/>
            <a:ext cx="201168" cy="201168"/>
          </a:xfrm>
          <a:prstGeom prst="ellipse">
            <a:avLst/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Readable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07A"/>
                </a:solidFill>
              </a:rPr>
              <a:t>Plain-language explanation instead of only a model score.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36792" y="3721608"/>
            <a:ext cx="201168" cy="201168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703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Scenario-aware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07A"/>
                </a:solidFill>
              </a:rPr>
              <a:t>Event assumptions can be tested before deployment changes.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36792" y="4297680"/>
            <a:ext cx="201168" cy="201168"/>
          </a:xfrm>
          <a:prstGeom prst="ellipse">
            <a:avLst/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Operational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0" y="4279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07A"/>
                </a:solidFill>
              </a:rPr>
              <a:t>Peak-hour guidance translates analysis into patrol timing.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36792" y="4873752"/>
            <a:ext cx="201168" cy="201168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Controllable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0" y="4855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07A"/>
                </a:solidFill>
              </a:rPr>
              <a:t>Final approval stays with the SHO.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5440680"/>
            <a:ext cx="4983480" cy="347472"/>
          </a:xfrm>
          <a:prstGeom prst="roundRect">
            <a:avLst>
              <a:gd name="adj" fmla="val 42105"/>
            </a:avLst>
          </a:prstGeom>
          <a:solidFill>
            <a:srgbClr val="E8F6F2"/>
          </a:solidFill>
          <a:ln w="12700">
            <a:solidFill>
              <a:srgbClr val="E8F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55412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F5B"/>
                </a:solidFill>
              </a:rPr>
              <a:t>Decision support, not autonomous policing.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05 /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lightweight stack built for a fast, explainable MVP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IBM Bob is the build accelerator; the application layer stays transparent and easy to inspect.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3200400" cy="4251960"/>
          </a:xfrm>
          <a:prstGeom prst="roundRect">
            <a:avLst>
              <a:gd name="adj" fmla="val 4571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93392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711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IBM TECHNOLOGY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IBM Bob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4DC"/>
                </a:solidFill>
              </a:rPr>
              <a:t>Used as the hackathon build environment / AI development layer.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2148840" cy="0"/>
          </a:xfrm>
          <a:prstGeom prst="line">
            <a:avLst/>
          </a:prstGeom>
          <a:noFill/>
          <a:ln w="12700">
            <a:solidFill>
              <a:srgbClr val="394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FE2"/>
                </a:solidFill>
              </a:rPr>
              <a:t>Track 4: AI &amp; Predictive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6BF"/>
                </a:solidFill>
              </a:rPr>
              <a:t>Rapid iteration + clear, auditable application logic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1810512"/>
            <a:ext cx="740664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20116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207111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53328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Streamlit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8B"/>
                </a:solidFill>
              </a:rPr>
              <a:t>Interactive district dashboard and workflow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60520" y="2862072"/>
            <a:ext cx="740664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30632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25696" y="31226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53328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Pandas • NumPy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8B"/>
                </a:solidFill>
              </a:rPr>
              <a:t>Cleaning, grouping, aggregation and scoring inputs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3913632"/>
            <a:ext cx="740664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41148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3E6EA8"/>
          </a:solidFill>
          <a:ln w="12700">
            <a:solidFill>
              <a:srgbClr val="3E6E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41742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VISUALIZATION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53328" y="4096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Plotly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582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8B"/>
                </a:solidFill>
              </a:rPr>
              <a:t>Interactive maps / charts and scenario visuals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60520" y="4965192"/>
            <a:ext cx="740664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516636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C65B2A"/>
          </a:solidFill>
          <a:ln w="12700">
            <a:solidFill>
              <a:srgbClr val="C65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52257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REPORTING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53328" y="5148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ReportLab • Matplotlib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58200" y="5184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8B"/>
                </a:solidFill>
              </a:rPr>
              <a:t>One-page intelligence brief generation and charts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3504" y="62362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AA4"/>
                </a:solidFill>
              </a:rPr>
              <a:t>Repository modules include app.py, analytics.py, simulator.py, report_generator.py and generate_data.py.</a:t>
            </a:r>
            <a:endParaRPr lang="en-US" sz="9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06 / MVP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implemented — and what is still a limitation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The current submission demonstrates the end-to-end intelligence workflow; it does not claim a field-validated forecasting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440680" cy="4160520"/>
          </a:xfrm>
          <a:prstGeom prst="roundRect">
            <a:avLst>
              <a:gd name="adj" fmla="val 3516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39112"/>
            <a:ext cx="1572768" cy="320040"/>
          </a:xfrm>
          <a:prstGeom prst="roundRect">
            <a:avLst>
              <a:gd name="adj" fmla="val 50000"/>
            </a:avLst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1683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2688336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596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1000+ generated mock crime records for the MVP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96112" y="3154680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Spatial-temporal / near-repeat pattern analysis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96112" y="3621024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529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Recency-weighted top-5 area scoring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96112" y="4087368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9959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Explainable “WHY” rationale for each area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96112" y="4553712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4622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What-if event simulation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96112" y="5020056"/>
            <a:ext cx="91440" cy="91440"/>
          </a:xfrm>
          <a:prstGeom prst="ellipse">
            <a:avLst/>
          </a:prstGeom>
          <a:solidFill>
            <a:srgbClr val="44B69D"/>
          </a:solidFill>
          <a:ln w="12700">
            <a:solidFill>
              <a:srgbClr val="44B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928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5F4"/>
                </a:solidFill>
              </a:rPr>
              <a:t>Patrol hints + one-page PDF brief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30352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039112"/>
            <a:ext cx="1508760" cy="320040"/>
          </a:xfrm>
          <a:prstGeom prst="roundRect">
            <a:avLst>
              <a:gd name="adj" fmla="val 50000"/>
            </a:avLst>
          </a:prstGeom>
          <a:solidFill>
            <a:srgbClr val="C65B2A"/>
          </a:solidFill>
          <a:ln w="12700">
            <a:solidFill>
              <a:srgbClr val="C65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1168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LIMITATIONS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65392" y="26060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Synthetic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26060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C687F"/>
                </a:solidFill>
              </a:rPr>
              <a:t>Uses generated mock records instead of real police records.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65392" y="33101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Heuristic scoring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01000" y="33101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C687F"/>
                </a:solidFill>
              </a:rPr>
              <a:t>Weighted heuristic demo, not a calibrated probabilistic forecast.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65392" y="4014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Grid mapping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01000" y="40142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C687F"/>
                </a:solidFill>
              </a:rPr>
              <a:t>Grid-based map rather than real GIS / H3 spatial indexing.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65392" y="4718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Access control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4718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C687F"/>
                </a:solidFill>
              </a:rPr>
              <a:t>SHO vs Beat Officer role separation is not implemented.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5486400"/>
            <a:ext cx="4526280" cy="320040"/>
          </a:xfrm>
          <a:prstGeom prst="roundRect">
            <a:avLst>
              <a:gd name="adj" fmla="val 45714"/>
            </a:avLst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5577840"/>
            <a:ext cx="4343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65B2A"/>
                </a:solidFill>
              </a:rPr>
              <a:t>Next validation step: real data + calibrated forecasting + real GIS.</a:t>
            </a:r>
            <a:endParaRPr lang="en-US" sz="9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B6FE2"/>
                </a:solidFill>
              </a:rPr>
              <a:t>07 / TEAM &amp; NEXT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Team Ananta — building a decision layer for proactive patrol 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2529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0D8"/>
                </a:solidFill>
              </a:rPr>
              <a:t>The MVP is intentionally small: demonstrate the decision flow first, then harden it with real data and operational controls.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5257800" cy="4069080"/>
          </a:xfrm>
          <a:prstGeom prst="roundRect">
            <a:avLst>
              <a:gd name="adj" fmla="val 3596"/>
            </a:avLst>
          </a:prstGeom>
          <a:solidFill>
            <a:srgbClr val="121A30"/>
          </a:solidFill>
          <a:ln w="12700">
            <a:solidFill>
              <a:srgbClr val="2833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3512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Lakshay Sunil Jatawat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FE2"/>
                </a:solidFill>
              </a:rPr>
              <a:t>Team Lead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493008"/>
            <a:ext cx="475488" cy="475488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6027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3602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4F2"/>
                </a:solidFill>
              </a:rPr>
              <a:t>Kunj Buddhdev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" y="4023360"/>
            <a:ext cx="475488" cy="475488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1330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4133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4F2"/>
                </a:solidFill>
              </a:rPr>
              <a:t>Deeksha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" y="4553712"/>
            <a:ext cx="475488" cy="475488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634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4663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4F2"/>
                </a:solidFill>
              </a:rPr>
              <a:t>Jiya Joshi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54406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6A3BD"/>
                </a:solidFill>
              </a:rPr>
              <a:t>Built as Team Ananta for the IBM Bob AI Hackathon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810512"/>
            <a:ext cx="544068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0574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1351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STEP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5786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</a:rPr>
              <a:t>From prototype → deployable intelligence layer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19088" y="3337560"/>
            <a:ext cx="91440" cy="91440"/>
          </a:xfrm>
          <a:prstGeom prst="ellipse">
            <a:avLst/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461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F5C74"/>
                </a:solidFill>
              </a:rPr>
              <a:t>Replace synthetic records with governed real police data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419088" y="3895344"/>
            <a:ext cx="91440" cy="91440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8039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F5C74"/>
                </a:solidFill>
              </a:rPr>
              <a:t>Calibrate and validate the risk model on held-out / real-world data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419088" y="4453128"/>
            <a:ext cx="91440" cy="91440"/>
          </a:xfrm>
          <a:prstGeom prst="ellipse">
            <a:avLst/>
          </a:prstGeom>
          <a:solidFill>
            <a:srgbClr val="5B4BB7"/>
          </a:solidFill>
          <a:ln w="12700">
            <a:solidFill>
              <a:srgbClr val="5B4B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3616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F5C74"/>
                </a:solidFill>
              </a:rPr>
              <a:t>Move from grid maps to real GIS / H3 spatial indexing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419088" y="5010912"/>
            <a:ext cx="91440" cy="91440"/>
          </a:xfrm>
          <a:prstGeom prst="ellipse">
            <a:avLst/>
          </a:prstGeom>
          <a:solidFill>
            <a:srgbClr val="118A73"/>
          </a:solidFill>
          <a:ln w="12700">
            <a:solidFill>
              <a:srgbClr val="118A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9194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F5C74"/>
                </a:solidFill>
              </a:rPr>
              <a:t>Add role-based access control and deployment hardening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400800" y="5458968"/>
            <a:ext cx="4645152" cy="320040"/>
          </a:xfrm>
          <a:prstGeom prst="roundRect">
            <a:avLst>
              <a:gd name="adj" fmla="val 45714"/>
            </a:avLst>
          </a:prstGeom>
          <a:solidFill>
            <a:srgbClr val="E8F6F2"/>
          </a:solidFill>
          <a:ln w="12700">
            <a:solidFill>
              <a:srgbClr val="E8F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550408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F6F5B"/>
                </a:solidFill>
              </a:rPr>
              <a:t>Live demo is not deployed yet; repository includes demo artifacts.</a:t>
            </a:r>
            <a:endParaRPr lang="en-US" sz="96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9A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819</Words>
  <Application>Microsoft Office PowerPoint</Application>
  <PresentationFormat>Widescreen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Ananta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Predictive Crime Hotspot Mapping Assistant</dc:title>
  <dc:subject>Drishti — Predictive Crime Hotspot Mapping Assistant</dc:subject>
  <dc:creator>Team Ananta</dc:creator>
  <cp:lastModifiedBy>LAKSHAY SUNIL JATAWAT</cp:lastModifiedBy>
  <cp:revision>4</cp:revision>
  <dcterms:created xsi:type="dcterms:W3CDTF">2026-09-28T07:20:52Z</dcterms:created>
  <dcterms:modified xsi:type="dcterms:W3CDTF">2026-09-28T08:43:53Z</dcterms:modified>
</cp:coreProperties>
</file>